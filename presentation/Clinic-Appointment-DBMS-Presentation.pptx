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2194560"/>
            <a:ext cx="4937760" cy="493776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49440" y="5760720"/>
            <a:ext cx="1554480" cy="155448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ross 5"/>
          <p:cNvSpPr/>
          <p:nvPr/>
        </p:nvSpPr>
        <p:spPr>
          <a:xfrm>
            <a:off x="1005840" y="914400"/>
            <a:ext cx="384048" cy="384048"/>
          </a:xfrm>
          <a:prstGeom prst="plus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ross 6"/>
          <p:cNvSpPr/>
          <p:nvPr/>
        </p:nvSpPr>
        <p:spPr>
          <a:xfrm>
            <a:off x="6675120" y="731520"/>
            <a:ext cx="274320" cy="274320"/>
          </a:xfrm>
          <a:prstGeom prst="plus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ross 7"/>
          <p:cNvSpPr/>
          <p:nvPr/>
        </p:nvSpPr>
        <p:spPr>
          <a:xfrm>
            <a:off x="1920240" y="5760720"/>
            <a:ext cx="274320" cy="274320"/>
          </a:xfrm>
          <a:prstGeom prst="plus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ross 8"/>
          <p:cNvSpPr/>
          <p:nvPr/>
        </p:nvSpPr>
        <p:spPr>
          <a:xfrm>
            <a:off x="11247120" y="5120640"/>
            <a:ext cx="384048" cy="384048"/>
          </a:xfrm>
          <a:prstGeom prst="plus">
            <a:avLst/>
          </a:prstGeom>
          <a:solidFill>
            <a:srgbClr val="2DD4B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18872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 i="0" spc="160">
                <a:solidFill>
                  <a:srgbClr val="2DD4BF"/>
                </a:solidFill>
                <a:latin typeface="Open Sans"/>
              </a:rPr>
              <a:t>DBMS GROUP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69951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Clinic Appointment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Management </a:t>
            </a:r>
            <a:r>
              <a:rPr sz="4000" b="1" i="0">
                <a:solidFill>
                  <a:srgbClr val="2DD4BF"/>
                </a:solidFill>
                <a:latin typeface="Poppins"/>
              </a:rPr>
              <a:t>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200400"/>
            <a:ext cx="123444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93008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B8C7DA"/>
                </a:solidFill>
                <a:latin typeface="Open Sans"/>
              </a:rPr>
              <a:t>A relational database that manages patients, doctors, appointments, medical records and payments — replacing paper records with one reliable, consistent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2DD4BF"/>
                </a:solidFill>
                <a:latin typeface="Open Sans"/>
              </a:rPr>
              <a:t>LibreOffice Base (.odb)   ·   Embedded HSQLDB   ·   Normalized to 2NF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1188720"/>
            <a:ext cx="3822191" cy="5138928"/>
          </a:xfrm>
          <a:prstGeom prst="roundRect">
            <a:avLst>
              <a:gd name="adj" fmla="val 55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4264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 spc="200">
                <a:solidFill>
                  <a:srgbClr val="2DD4BF"/>
                </a:solidFill>
                <a:latin typeface="Poppins"/>
              </a:rPr>
              <a:t>TEAM  · 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89280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Roboto Mon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847088"/>
            <a:ext cx="219456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107692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Sultan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8" y="2418588"/>
            <a:ext cx="3273552" cy="9144"/>
          </a:xfrm>
          <a:prstGeom prst="rect">
            <a:avLst/>
          </a:prstGeom>
          <a:solidFill>
            <a:srgbClr val="1B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6151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Roboto Mon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569464"/>
            <a:ext cx="219456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830068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Elbek &amp; Allisa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3140964"/>
            <a:ext cx="3273552" cy="9144"/>
          </a:xfrm>
          <a:prstGeom prst="rect">
            <a:avLst/>
          </a:prstGeom>
          <a:solidFill>
            <a:srgbClr val="1B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3337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Roboto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291840"/>
            <a:ext cx="219456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ER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552444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Aza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3863339"/>
            <a:ext cx="3273552" cy="9144"/>
          </a:xfrm>
          <a:prstGeom prst="rect">
            <a:avLst/>
          </a:prstGeom>
          <a:solidFill>
            <a:srgbClr val="1B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40599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Roboto Mono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4014216"/>
            <a:ext cx="219456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Database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274820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KX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4585716"/>
            <a:ext cx="3273552" cy="9144"/>
          </a:xfrm>
          <a:prstGeom prst="rect">
            <a:avLst/>
          </a:prstGeom>
          <a:solidFill>
            <a:srgbClr val="1B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47823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Roboto Mono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4736592"/>
            <a:ext cx="219456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SQL Queries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997196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Abdushukur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448" y="5308092"/>
            <a:ext cx="3273552" cy="9144"/>
          </a:xfrm>
          <a:prstGeom prst="rect">
            <a:avLst/>
          </a:prstGeom>
          <a:solidFill>
            <a:srgbClr val="1B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8" y="55046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Roboto Mono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5458968"/>
            <a:ext cx="219456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Conclusion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5719572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Jeremy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C7490"/>
                </a:solidFill>
                <a:latin typeface="Open Sans"/>
              </a:rPr>
              <a:t>Database Management Systems — Group Assignment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Poppi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0F2B46"/>
                </a:solidFill>
                <a:latin typeface="Poppins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45344" y="475488"/>
            <a:ext cx="1843430" cy="384048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0B665C"/>
                </a:solidFill>
                <a:latin typeface="Open Sans"/>
              </a:rPr>
              <a:t>PRESENTER — SULTAN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02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35024"/>
            <a:ext cx="5413248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 spc="160">
                <a:solidFill>
                  <a:srgbClr val="E85D5D"/>
                </a:solidFill>
                <a:latin typeface="Poppin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493776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Paper records, forms &amp; spreadsheets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473452"/>
            <a:ext cx="82296" cy="82296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39572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Double bookings — no central booking record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2976372"/>
            <a:ext cx="82296" cy="82296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89864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Time wasted searching through physical files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3479291"/>
            <a:ext cx="82296" cy="82296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40156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Records get lost or damaged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3982211"/>
            <a:ext cx="82296" cy="82296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904487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Communication breakdowns when schedules change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" y="4485131"/>
            <a:ext cx="82296" cy="82296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407407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Reports become a paper-based nightmare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335024"/>
            <a:ext cx="5486400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5727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 spc="160">
                <a:solidFill>
                  <a:srgbClr val="0D9488"/>
                </a:solidFill>
                <a:latin typeface="Poppins"/>
              </a:rPr>
              <a:t>THE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1883664"/>
            <a:ext cx="5029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One centralized relational database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247345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6" y="2395728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Patient information</a:t>
            </a:r>
            <a:r>
              <a:rPr sz="1100" b="0" i="0">
                <a:solidFill>
                  <a:srgbClr val="475569"/>
                </a:solidFill>
                <a:latin typeface="Open Sans"/>
              </a:rPr>
              <a:t>  —  registration &amp; personal details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97637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2898648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Doctor information</a:t>
            </a:r>
            <a:r>
              <a:rPr sz="1100" b="0" i="0">
                <a:solidFill>
                  <a:srgbClr val="475569"/>
                </a:solidFill>
                <a:latin typeface="Open Sans"/>
              </a:rPr>
              <a:t>  —  specializations &amp; departments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3479291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3401568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Appointments</a:t>
            </a:r>
            <a:r>
              <a:rPr sz="1100" b="0" i="0">
                <a:solidFill>
                  <a:srgbClr val="475569"/>
                </a:solidFill>
                <a:latin typeface="Open Sans"/>
              </a:rPr>
              <a:t>  —  date, time, attending doctor, status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3982211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3904487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Medical records</a:t>
            </a:r>
            <a:r>
              <a:rPr sz="1100" b="0" i="0">
                <a:solidFill>
                  <a:srgbClr val="475569"/>
                </a:solidFill>
                <a:latin typeface="Open Sans"/>
              </a:rPr>
              <a:t>  —  diagnosis, treatment, medicine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485131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4407407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Payments</a:t>
            </a:r>
            <a:r>
              <a:rPr sz="1100" b="0" i="0">
                <a:solidFill>
                  <a:srgbClr val="475569"/>
                </a:solidFill>
                <a:latin typeface="Open Sans"/>
              </a:rPr>
              <a:t>  —  amount, method, status, 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285232"/>
            <a:ext cx="11185855" cy="1024128"/>
          </a:xfrm>
          <a:prstGeom prst="roundRect">
            <a:avLst>
              <a:gd name="adj" fmla="val 7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5046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Open Sans"/>
              </a:rPr>
              <a:t>✓  </a:t>
            </a:r>
            <a:r>
              <a:rPr sz="1350" b="1" i="0">
                <a:solidFill>
                  <a:srgbClr val="FFFFFF"/>
                </a:solidFill>
                <a:latin typeface="Poppins"/>
              </a:rPr>
              <a:t>Improves 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55046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Open Sans"/>
              </a:rPr>
              <a:t>✓  </a:t>
            </a:r>
            <a:r>
              <a:rPr sz="1350" b="1" i="0">
                <a:solidFill>
                  <a:srgbClr val="FFFFFF"/>
                </a:solidFill>
                <a:latin typeface="Poppins"/>
              </a:rPr>
              <a:t>Reduces data duplication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5046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Open Sans"/>
              </a:rPr>
              <a:t>✓  </a:t>
            </a:r>
            <a:r>
              <a:rPr sz="1350" b="1" i="0">
                <a:solidFill>
                  <a:srgbClr val="FFFFFF"/>
                </a:solidFill>
                <a:latin typeface="Poppins"/>
              </a:rPr>
              <a:t>Ensures data 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070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Built with LibreOffice Base (.odb) — staff find what they need in seconds, not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Poppi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0F2B46"/>
                </a:solidFill>
                <a:latin typeface="Poppins"/>
              </a:rPr>
              <a:t>REQUIREMENTS — SIX MAIN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88221" y="475488"/>
            <a:ext cx="2600553" cy="384048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0B665C"/>
                </a:solidFill>
                <a:latin typeface="Open Sans"/>
              </a:rPr>
              <a:t>PRESENTERS — ELBEK &amp; ALLISA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03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89888"/>
            <a:ext cx="361188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572768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8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1595628"/>
            <a:ext cx="2377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1168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Roboto Mono"/>
              </a:rPr>
              <a:t>PK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PatientID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505456"/>
            <a:ext cx="31729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Open Sans"/>
              </a:rPr>
              <a:t>Personal details of every patient — name, gender, DOB, phone, address.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3054096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 i="0" spc="40">
                <a:solidFill>
                  <a:srgbClr val="0F2B46"/>
                </a:solidFill>
                <a:latin typeface="Open Sans"/>
              </a:rPr>
              <a:t>11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389888"/>
            <a:ext cx="361188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9704" y="1572768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1595628"/>
            <a:ext cx="2377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01168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Roboto Mono"/>
              </a:rPr>
              <a:t>PK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DoctorID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2357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D9488"/>
                </a:solidFill>
                <a:latin typeface="Roboto Mono"/>
              </a:rPr>
              <a:t>FK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DepartmentID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505456"/>
            <a:ext cx="31729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Open Sans"/>
              </a:rPr>
              <a:t>Doctor details &amp; specialization, each linked to a department.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6288" y="3054096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 i="0" spc="40">
                <a:solidFill>
                  <a:srgbClr val="0F2B46"/>
                </a:solidFill>
                <a:latin typeface="Open Sans"/>
              </a:rPr>
              <a:t>6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389888"/>
            <a:ext cx="361188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5320" y="1572768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E04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595628"/>
            <a:ext cx="2377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01168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Roboto Mono"/>
              </a:rPr>
              <a:t>PK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DepartmentID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505456"/>
            <a:ext cx="31729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Open Sans"/>
              </a:rPr>
              <a:t>Clinic departments with their name and location in the building.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61904" y="3054096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 i="0" spc="40">
                <a:solidFill>
                  <a:srgbClr val="0F2B46"/>
                </a:solidFill>
                <a:latin typeface="Open Sans"/>
              </a:rPr>
              <a:t>6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621024"/>
            <a:ext cx="361188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" y="3803904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DCA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3826764"/>
            <a:ext cx="2377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Appointment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24281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Roboto Mono"/>
              </a:rPr>
              <a:t>PK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AppointmentID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466844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D9488"/>
                </a:solidFill>
                <a:latin typeface="Roboto Mono"/>
              </a:rPr>
              <a:t>FK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PatientID · DoctorID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4736592"/>
            <a:ext cx="31729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Open Sans"/>
              </a:rPr>
              <a:t>Links patients &amp; doctors — date, time, reason and status of each visit.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90672" y="5285232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 i="0" spc="40">
                <a:solidFill>
                  <a:srgbClr val="0F2B46"/>
                </a:solidFill>
                <a:latin typeface="Open Sans"/>
              </a:rPr>
              <a:t>10 rows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6" y="3621024"/>
            <a:ext cx="361188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9704" y="3803904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6904" y="3826764"/>
            <a:ext cx="2377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MedicalRecord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24281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Roboto Mono"/>
              </a:rPr>
              <a:t>PK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RecordID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4466844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D9488"/>
                </a:solidFill>
                <a:latin typeface="Roboto Mono"/>
              </a:rPr>
              <a:t>FK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AppointmentID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4736592"/>
            <a:ext cx="31729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Open Sans"/>
              </a:rPr>
              <a:t>Diagnosis, treatment and medicine recorded after each completed visit.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76288" y="5285232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 i="0" spc="40">
                <a:solidFill>
                  <a:srgbClr val="0F2B46"/>
                </a:solidFill>
                <a:latin typeface="Open Sans"/>
              </a:rPr>
              <a:t>5 rows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74152" y="3621024"/>
            <a:ext cx="361188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75320" y="3803904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E26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826764"/>
            <a:ext cx="2377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Poppins"/>
              </a:rPr>
              <a:t>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8" y="424281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Roboto Mono"/>
              </a:rPr>
              <a:t>PK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PaymentID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4466844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D9488"/>
                </a:solidFill>
                <a:latin typeface="Roboto Mono"/>
              </a:rPr>
              <a:t>FK  </a:t>
            </a:r>
            <a:r>
              <a:rPr sz="900" b="0" i="0">
                <a:solidFill>
                  <a:srgbClr val="475569"/>
                </a:solidFill>
                <a:latin typeface="Roboto Mono"/>
              </a:rPr>
              <a:t>AppointmentID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3608" y="4736592"/>
            <a:ext cx="31729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Open Sans"/>
              </a:rPr>
              <a:t>Billing per appointment — amount, method, status and payment date.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61904" y="5285232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 i="0" spc="40">
                <a:solidFill>
                  <a:srgbClr val="0F2B46"/>
                </a:solidFill>
                <a:latin typeface="Open Sans"/>
              </a:rPr>
              <a:t>5 rows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70448"/>
            <a:ext cx="11185855" cy="530352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998464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2DD4BF"/>
                </a:solidFill>
                <a:latin typeface="Poppins"/>
              </a:rPr>
              <a:t>USER ROLES   </a:t>
            </a:r>
            <a:r>
              <a:rPr sz="1150" b="1" i="0">
                <a:solidFill>
                  <a:srgbClr val="FFFFFF"/>
                </a:solidFill>
                <a:latin typeface="Open Sans"/>
              </a:rPr>
              <a:t>Receptionist / Admin  ·  Doctor  ·  Clinic Manager  ·  Patient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99846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B8C7DA"/>
                </a:solidFill>
                <a:latin typeface="Open Sans"/>
              </a:rPr>
              <a:t>Every table stores at least 5 sample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Poppi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0F2B46"/>
                </a:solidFill>
                <a:latin typeface="Poppins"/>
              </a:rPr>
              <a:t>ER DIAGRAM &amp;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51415" y="47548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0B665C"/>
                </a:solidFill>
                <a:latin typeface="Open Sans"/>
              </a:rPr>
              <a:t>PRESENTER — AZA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04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393192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" y="1549908"/>
            <a:ext cx="713232" cy="301752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20">
                <a:solidFill>
                  <a:srgbClr val="0B665C"/>
                </a:solidFill>
                <a:latin typeface="Roboto Mono"/>
              </a:rPr>
              <a:t>1 :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15681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Department</a:t>
            </a:r>
            <a:r>
              <a:rPr sz="1150" b="1" i="0">
                <a:solidFill>
                  <a:srgbClr val="0D9488"/>
                </a:solidFill>
                <a:latin typeface="Open Sans"/>
              </a:rPr>
              <a:t>  →  </a:t>
            </a:r>
            <a:r>
              <a:rPr sz="1150" b="1" i="0">
                <a:solidFill>
                  <a:srgbClr val="0F2B46"/>
                </a:solidFill>
                <a:latin typeface="Open Sans"/>
              </a:rPr>
              <a:t>Doctor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93976"/>
            <a:ext cx="393192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" y="2199132"/>
            <a:ext cx="713232" cy="301752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20">
                <a:solidFill>
                  <a:srgbClr val="0B665C"/>
                </a:solidFill>
                <a:latin typeface="Roboto Mono"/>
              </a:rPr>
              <a:t>1 :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22174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Patient</a:t>
            </a:r>
            <a:r>
              <a:rPr sz="1150" b="1" i="0">
                <a:solidFill>
                  <a:srgbClr val="0D9488"/>
                </a:solidFill>
                <a:latin typeface="Open Sans"/>
              </a:rPr>
              <a:t>  →  </a:t>
            </a:r>
            <a:r>
              <a:rPr sz="1150" b="1" i="0">
                <a:solidFill>
                  <a:srgbClr val="0F2B46"/>
                </a:solidFill>
                <a:latin typeface="Open Sans"/>
              </a:rPr>
              <a:t>Appointment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43200"/>
            <a:ext cx="393192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" y="2848356"/>
            <a:ext cx="713232" cy="301752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20">
                <a:solidFill>
                  <a:srgbClr val="0B665C"/>
                </a:solidFill>
                <a:latin typeface="Roboto Mono"/>
              </a:rPr>
              <a:t>1 :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286664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Doctor</a:t>
            </a:r>
            <a:r>
              <a:rPr sz="1150" b="1" i="0">
                <a:solidFill>
                  <a:srgbClr val="0D9488"/>
                </a:solidFill>
                <a:latin typeface="Open Sans"/>
              </a:rPr>
              <a:t>  →  </a:t>
            </a:r>
            <a:r>
              <a:rPr sz="1150" b="1" i="0">
                <a:solidFill>
                  <a:srgbClr val="0F2B46"/>
                </a:solidFill>
                <a:latin typeface="Open Sans"/>
              </a:rPr>
              <a:t>Appointment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92424"/>
            <a:ext cx="393192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" y="3497580"/>
            <a:ext cx="713232" cy="301752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20">
                <a:solidFill>
                  <a:srgbClr val="0B665C"/>
                </a:solidFill>
                <a:latin typeface="Roboto Mono"/>
              </a:rPr>
              <a:t>1 :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35158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Appointment</a:t>
            </a:r>
            <a:r>
              <a:rPr sz="1150" b="1" i="0">
                <a:solidFill>
                  <a:srgbClr val="0D9488"/>
                </a:solidFill>
                <a:latin typeface="Open Sans"/>
              </a:rPr>
              <a:t>  →  </a:t>
            </a:r>
            <a:r>
              <a:rPr sz="1150" b="1" i="0">
                <a:solidFill>
                  <a:srgbClr val="0F2B46"/>
                </a:solidFill>
                <a:latin typeface="Open Sans"/>
              </a:rPr>
              <a:t>MedicalRecord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41648"/>
            <a:ext cx="393192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" y="4146804"/>
            <a:ext cx="713232" cy="301752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20">
                <a:solidFill>
                  <a:srgbClr val="0B665C"/>
                </a:solidFill>
                <a:latin typeface="Roboto Mono"/>
              </a:rPr>
              <a:t>1 :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416509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Open Sans"/>
              </a:rPr>
              <a:t>Appointment</a:t>
            </a:r>
            <a:r>
              <a:rPr sz="1150" b="1" i="0">
                <a:solidFill>
                  <a:srgbClr val="0D9488"/>
                </a:solidFill>
                <a:latin typeface="Open Sans"/>
              </a:rPr>
              <a:t>  →  </a:t>
            </a:r>
            <a:r>
              <a:rPr sz="1150" b="1" i="0">
                <a:solidFill>
                  <a:srgbClr val="0F2B46"/>
                </a:solidFill>
                <a:latin typeface="Open Sans"/>
              </a:rPr>
              <a:t>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73168"/>
            <a:ext cx="3931920" cy="1481328"/>
          </a:xfrm>
          <a:prstGeom prst="roundRect">
            <a:avLst>
              <a:gd name="adj" fmla="val 7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937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spc="100">
                <a:solidFill>
                  <a:srgbClr val="0B665C"/>
                </a:solidFill>
                <a:latin typeface="Poppins"/>
              </a:rPr>
              <a:t>APPOINTMENT IS THE CENTRAL 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5248656"/>
            <a:ext cx="358444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114E46"/>
                </a:solidFill>
                <a:latin typeface="Open Sans"/>
              </a:rPr>
              <a:t>Patients make appointments and doctors handle them — medical records and payments always link back to an appointment.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1335024"/>
            <a:ext cx="7068312" cy="4919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rd-lucid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17904"/>
            <a:ext cx="6702552" cy="4056259"/>
          </a:xfrm>
          <a:prstGeom prst="rect">
            <a:avLst/>
          </a:prstGeom>
          <a:ln>
            <a:noFill/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4617720" y="5683891"/>
            <a:ext cx="70683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8EA3B8"/>
                </a:solidFill>
                <a:latin typeface="Open Sans"/>
              </a:rPr>
              <a:t>ER diagram in crow's foot notation — created with Lucidchart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Poppi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0F2B46"/>
                </a:solidFill>
                <a:latin typeface="Poppins"/>
              </a:rPr>
              <a:t>DATABASE DEMO — LIBREOFFICE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51415" y="47548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0B665C"/>
                </a:solidFill>
                <a:latin typeface="Open Sans"/>
              </a:rPr>
              <a:t>PRESENTER — KX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05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35024"/>
            <a:ext cx="5897880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2B46"/>
                </a:solidFill>
                <a:latin typeface="Poppins"/>
              </a:rPr>
              <a:t>Relationships view — foreign keys in action</a:t>
            </a:r>
          </a:p>
        </p:txBody>
      </p:sp>
      <p:pic>
        <p:nvPicPr>
          <p:cNvPr id="12" name="Picture 11" descr="base-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10512"/>
            <a:ext cx="5440680" cy="255454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13" name="Rounded Rectangle 12"/>
          <p:cNvSpPr/>
          <p:nvPr/>
        </p:nvSpPr>
        <p:spPr>
          <a:xfrm>
            <a:off x="6565392" y="1335024"/>
            <a:ext cx="5120640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14813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2B46"/>
                </a:solidFill>
                <a:latin typeface="Poppins"/>
              </a:rPr>
              <a:t>Implementation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848856" y="1940356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186537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F2B46"/>
                </a:solidFill>
                <a:latin typeface="Open Sans"/>
              </a:rPr>
              <a:t>LibreOffice Base 24.2</a:t>
            </a:r>
            <a:r>
              <a:rPr sz="1050" b="0" i="0">
                <a:solidFill>
                  <a:srgbClr val="475569"/>
                </a:solidFill>
                <a:latin typeface="Open Sans"/>
              </a:rPr>
              <a:t>  —  with the embedded HSQLDB 1.8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6848856" y="245699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38201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F2B46"/>
                </a:solidFill>
                <a:latin typeface="Open Sans"/>
              </a:rPr>
              <a:t>.odb file format</a:t>
            </a:r>
            <a:r>
              <a:rPr sz="1050" b="0" i="0">
                <a:solidFill>
                  <a:srgbClr val="475569"/>
                </a:solidFill>
                <a:latin typeface="Open Sans"/>
              </a:rPr>
              <a:t>  —  no separate database server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848856" y="2973628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289864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F2B46"/>
                </a:solidFill>
                <a:latin typeface="Open Sans"/>
              </a:rPr>
              <a:t>2NF design</a:t>
            </a:r>
            <a:r>
              <a:rPr sz="1050" b="0" i="0">
                <a:solidFill>
                  <a:srgbClr val="475569"/>
                </a:solidFill>
                <a:latin typeface="Open Sans"/>
              </a:rPr>
              <a:t>  —  all six tables built from the normalized model</a:t>
            </a:r>
          </a:p>
        </p:txBody>
      </p:sp>
      <p:sp>
        <p:nvSpPr>
          <p:cNvPr id="21" name="Oval 20"/>
          <p:cNvSpPr/>
          <p:nvPr/>
        </p:nvSpPr>
        <p:spPr>
          <a:xfrm>
            <a:off x="6848856" y="3490264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341528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F2B46"/>
                </a:solidFill>
                <a:latin typeface="Open Sans"/>
              </a:rPr>
              <a:t>Referential integrity</a:t>
            </a:r>
            <a:r>
              <a:rPr sz="1050" b="0" i="0">
                <a:solidFill>
                  <a:srgbClr val="475569"/>
                </a:solidFill>
                <a:latin typeface="Open Sans"/>
              </a:rPr>
              <a:t>  —  enforced through foreign keys</a:t>
            </a:r>
          </a:p>
        </p:txBody>
      </p:sp>
      <p:sp>
        <p:nvSpPr>
          <p:cNvPr id="23" name="Oval 22"/>
          <p:cNvSpPr/>
          <p:nvPr/>
        </p:nvSpPr>
        <p:spPr>
          <a:xfrm>
            <a:off x="6848856" y="4006900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393192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F2B46"/>
                </a:solidFill>
                <a:latin typeface="Open Sans"/>
              </a:rPr>
              <a:t>Realistic sample data</a:t>
            </a:r>
            <a:r>
              <a:rPr sz="1050" b="0" i="0">
                <a:solidFill>
                  <a:srgbClr val="475569"/>
                </a:solidFill>
                <a:latin typeface="Open Sans"/>
              </a:rPr>
              <a:t>  —  every table holds at least 5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938" y="4681728"/>
            <a:ext cx="3170160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2B46"/>
                </a:solidFill>
                <a:latin typeface="Poppins"/>
              </a:rPr>
              <a:t>Patient — 11 rows</a:t>
            </a:r>
          </a:p>
        </p:txBody>
      </p:sp>
      <p:pic>
        <p:nvPicPr>
          <p:cNvPr id="26" name="Picture 25" descr="table-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38" y="4937760"/>
            <a:ext cx="3170160" cy="128016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3851690" y="4681728"/>
            <a:ext cx="3856787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2B46"/>
                </a:solidFill>
                <a:latin typeface="Poppins"/>
              </a:rPr>
              <a:t>Doctor — 6 rows</a:t>
            </a:r>
          </a:p>
        </p:txBody>
      </p:sp>
      <p:pic>
        <p:nvPicPr>
          <p:cNvPr id="28" name="Picture 27" descr="table-do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690" y="4937760"/>
            <a:ext cx="3856787" cy="128016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7873069" y="4681728"/>
            <a:ext cx="3801687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F2B46"/>
                </a:solidFill>
                <a:latin typeface="Poppins"/>
              </a:rPr>
              <a:t>Appointment — 10 rows</a:t>
            </a:r>
          </a:p>
        </p:txBody>
      </p:sp>
      <p:pic>
        <p:nvPicPr>
          <p:cNvPr id="30" name="Picture 29" descr="table-appoint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069" y="4937760"/>
            <a:ext cx="3801687" cy="128016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Poppi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0F2B46"/>
                </a:solidFill>
                <a:latin typeface="Poppins"/>
              </a:rPr>
              <a:t>SQL QUERIES — SELECT &amp; JOIN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8845" y="475488"/>
            <a:ext cx="2179929" cy="384048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0B665C"/>
                </a:solidFill>
                <a:latin typeface="Open Sans"/>
              </a:rPr>
              <a:t>PRESENTER — ABDUSHUKUR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06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60">
                <a:solidFill>
                  <a:srgbClr val="FFFFFF"/>
                </a:solidFill>
                <a:latin typeface="Open San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380744"/>
            <a:ext cx="475488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B46"/>
                </a:solidFill>
                <a:latin typeface="Poppins"/>
              </a:rPr>
              <a:t>View All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Retrieves all 11 patient records — the full Patient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12848"/>
            <a:ext cx="5029200" cy="566928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68296"/>
            <a:ext cx="46817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Roboto Mono"/>
              </a:rPr>
              <a:t>SELECT</a:t>
            </a:r>
            <a:r>
              <a:rPr sz="1200" b="0" i="0">
                <a:solidFill>
                  <a:srgbClr val="E2E8F0"/>
                </a:solidFill>
                <a:latin typeface="Roboto Mono"/>
              </a:rPr>
              <a:t> * </a:t>
            </a:r>
            <a:r>
              <a:rPr sz="1200" b="1" i="0">
                <a:solidFill>
                  <a:srgbClr val="2DD4BF"/>
                </a:solidFill>
                <a:latin typeface="Roboto Mono"/>
              </a:rPr>
              <a:t>FROM</a:t>
            </a:r>
            <a:r>
              <a:rPr sz="1200" b="0" i="0">
                <a:solidFill>
                  <a:srgbClr val="E2E8F0"/>
                </a:solidFill>
                <a:latin typeface="Roboto Mono"/>
              </a:rPr>
              <a:t> "Patient"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8EA3B8"/>
                </a:solidFill>
                <a:latin typeface="Open Sans"/>
              </a:rPr>
              <a:t>11 of 11 records returned</a:t>
            </a:r>
          </a:p>
        </p:txBody>
      </p:sp>
      <p:pic>
        <p:nvPicPr>
          <p:cNvPr id="16" name="Picture 15" descr="query1-view-all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371600"/>
            <a:ext cx="4224528" cy="2131391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502920" y="3767328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60">
                <a:solidFill>
                  <a:srgbClr val="FFFFFF"/>
                </a:solidFill>
                <a:latin typeface="Open Sans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41063"/>
            <a:ext cx="475488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B46"/>
                </a:solidFill>
                <a:latin typeface="Poppins"/>
              </a:rPr>
              <a:t>Appointment Details (JOIN)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34256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Joins Appointment with Patient and Doctor — names instead of IDs.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54880"/>
            <a:ext cx="5029200" cy="1321308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910328"/>
            <a:ext cx="4681728" cy="10104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2DD4BF"/>
                </a:solidFill>
                <a:latin typeface="Roboto Mono"/>
              </a:rPr>
              <a:t>SELECT</a:t>
            </a:r>
            <a:r>
              <a:rPr sz="950" b="0" i="0">
                <a:solidFill>
                  <a:srgbClr val="E2E8F0"/>
                </a:solidFill>
                <a:latin typeface="Roboto Mono"/>
              </a:rPr>
              <a:t> "A"."AppointmentID", "P"."PatientName",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Roboto Mono"/>
              </a:rPr>
              <a:t>       "D"."DoctorName", "A"."AppointmentDate",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Roboto Mono"/>
              </a:rPr>
              <a:t>       "A"."AppointmentTime", "A"."Status"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2DD4BF"/>
                </a:solidFill>
                <a:latin typeface="Roboto Mono"/>
              </a:rPr>
              <a:t>FROM</a:t>
            </a:r>
            <a:r>
              <a:rPr sz="950" b="0" i="0">
                <a:solidFill>
                  <a:srgbClr val="E2E8F0"/>
                </a:solidFill>
                <a:latin typeface="Roboto Mono"/>
              </a:rPr>
              <a:t> "Appointment" "A"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2DD4BF"/>
                </a:solidFill>
                <a:latin typeface="Roboto Mono"/>
              </a:rPr>
              <a:t>JOIN</a:t>
            </a:r>
            <a:r>
              <a:rPr sz="950" b="0" i="0">
                <a:solidFill>
                  <a:srgbClr val="E2E8F0"/>
                </a:solidFill>
                <a:latin typeface="Roboto Mono"/>
              </a:rPr>
              <a:t> "Patient" "P" </a:t>
            </a:r>
            <a:r>
              <a:rPr sz="950" b="1" i="0">
                <a:solidFill>
                  <a:srgbClr val="2DD4BF"/>
                </a:solidFill>
                <a:latin typeface="Roboto Mono"/>
              </a:rPr>
              <a:t>ON</a:t>
            </a:r>
            <a:r>
              <a:rPr sz="950" b="0" i="0">
                <a:solidFill>
                  <a:srgbClr val="E2E8F0"/>
                </a:solidFill>
                <a:latin typeface="Roboto Mono"/>
              </a:rPr>
              <a:t> "A"."PatientID" = "P"."PatientID"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2DD4BF"/>
                </a:solidFill>
                <a:latin typeface="Roboto Mono"/>
              </a:rPr>
              <a:t>JOIN</a:t>
            </a:r>
            <a:r>
              <a:rPr sz="950" b="0" i="0">
                <a:solidFill>
                  <a:srgbClr val="E2E8F0"/>
                </a:solidFill>
                <a:latin typeface="Roboto Mono"/>
              </a:rPr>
              <a:t> "Doctor" "D" </a:t>
            </a:r>
            <a:r>
              <a:rPr sz="950" b="1" i="0">
                <a:solidFill>
                  <a:srgbClr val="2DD4BF"/>
                </a:solidFill>
                <a:latin typeface="Roboto Mono"/>
              </a:rPr>
              <a:t>ON</a:t>
            </a:r>
            <a:r>
              <a:rPr sz="950" b="0" i="0">
                <a:solidFill>
                  <a:srgbClr val="E2E8F0"/>
                </a:solidFill>
                <a:latin typeface="Roboto Mono"/>
              </a:rPr>
              <a:t> "A"."DoctorID" = "D"."DoctorID"</a:t>
            </a:r>
          </a:p>
        </p:txBody>
      </p:sp>
      <p:pic>
        <p:nvPicPr>
          <p:cNvPr id="23" name="Picture 22" descr="query2-appointment-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370832"/>
            <a:ext cx="5879592" cy="1911514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Poppi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0F2B46"/>
                </a:solidFill>
                <a:latin typeface="Poppins"/>
              </a:rPr>
              <a:t>SQL QUERIES — INSERT &amp;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8845" y="475488"/>
            <a:ext cx="2179929" cy="384048"/>
          </a:xfrm>
          <a:prstGeom prst="roundRect">
            <a:avLst>
              <a:gd name="adj" fmla="val 50000"/>
            </a:avLst>
          </a:prstGeom>
          <a:solidFill>
            <a:srgbClr val="D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0B665C"/>
                </a:solidFill>
                <a:latin typeface="Open Sans"/>
              </a:rPr>
              <a:t>PRESENTER — ABDUSHUKUR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8EA3B8"/>
                </a:solidFill>
                <a:latin typeface="Open Sans"/>
              </a:rPr>
              <a:t>07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60">
                <a:solidFill>
                  <a:srgbClr val="FFFFFF"/>
                </a:solidFill>
                <a:latin typeface="Open Sans"/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380744"/>
            <a:ext cx="54864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B46"/>
                </a:solidFill>
                <a:latin typeface="Poppins"/>
              </a:rPr>
              <a:t>Insert New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Adds patient #11 — Alicia Wong — to the Patient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6172200" cy="103632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50008"/>
            <a:ext cx="5824728" cy="72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1" i="0">
                <a:solidFill>
                  <a:srgbClr val="2DD4BF"/>
                </a:solidFill>
                <a:latin typeface="Roboto Mono"/>
              </a:rPr>
              <a:t>INSERT INTO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 "Patient" ("PatientID", "PatientName",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Roboto Mono"/>
              </a:rPr>
              <a:t>  "Gender", "DOB", "PhoneNumber", "Address")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1" i="0">
                <a:solidFill>
                  <a:srgbClr val="2DD4BF"/>
                </a:solidFill>
                <a:latin typeface="Roboto Mono"/>
              </a:rPr>
              <a:t>VALUES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 (11, </a:t>
            </a:r>
            <a:r>
              <a:rPr sz="1000" b="0" i="0">
                <a:solidFill>
                  <a:srgbClr val="FCD34D"/>
                </a:solidFill>
                <a:latin typeface="Roboto Mono"/>
              </a:rPr>
              <a:t>'Alicia Wong'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, </a:t>
            </a:r>
            <a:r>
              <a:rPr sz="1000" b="0" i="0">
                <a:solidFill>
                  <a:srgbClr val="FCD34D"/>
                </a:solidFill>
                <a:latin typeface="Roboto Mono"/>
              </a:rPr>
              <a:t>'Female'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, </a:t>
            </a:r>
            <a:r>
              <a:rPr sz="1000" b="0" i="0">
                <a:solidFill>
                  <a:srgbClr val="FCD34D"/>
                </a:solidFill>
                <a:latin typeface="Roboto Mono"/>
              </a:rPr>
              <a:t>'2002-08-15'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Roboto Mono"/>
              </a:rPr>
              <a:t>  </a:t>
            </a:r>
            <a:r>
              <a:rPr sz="1000" b="0" i="0">
                <a:solidFill>
                  <a:srgbClr val="FCD34D"/>
                </a:solidFill>
                <a:latin typeface="Roboto Mono"/>
              </a:rPr>
              <a:t>'0135558888'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, </a:t>
            </a:r>
            <a:r>
              <a:rPr sz="1000" b="0" i="0">
                <a:solidFill>
                  <a:srgbClr val="FCD34D"/>
                </a:solidFill>
                <a:latin typeface="Roboto Mono"/>
              </a:rPr>
              <a:t>'Austin Heights, Johor Bahru, Johor'</a:t>
            </a:r>
            <a:r>
              <a:rPr sz="1000" b="0" i="0">
                <a:solidFill>
                  <a:srgbClr val="E2E8F0"/>
                </a:solidFill>
                <a:latin typeface="Roboto Mono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48132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8EA3B8"/>
                </a:solidFill>
                <a:latin typeface="Open Sans"/>
              </a:rPr>
              <a:t>Query Design view — LibreOffice Base</a:t>
            </a:r>
          </a:p>
        </p:txBody>
      </p:sp>
      <p:pic>
        <p:nvPicPr>
          <p:cNvPr id="16" name="Picture 15" descr="query3-insert-new-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755648"/>
            <a:ext cx="4718304" cy="732252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6967728" y="2834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Open Sans"/>
              </a:rPr>
              <a:t>After running: the Patient table grows from 10 to 11 rows.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60">
                <a:solidFill>
                  <a:srgbClr val="FFFFFF"/>
                </a:solidFill>
                <a:latin typeface="Open Sans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941063"/>
            <a:ext cx="54864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B46"/>
                </a:solidFill>
                <a:latin typeface="Poppins"/>
              </a:rPr>
              <a:t>Update Appointment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34256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Changes the status of appointment No. 5 via its AppointmentID.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54880"/>
            <a:ext cx="6172200" cy="918972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910328"/>
            <a:ext cx="5824728" cy="6080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Roboto Mono"/>
              </a:rPr>
              <a:t>UPDATE</a:t>
            </a:r>
            <a:r>
              <a:rPr sz="1100" b="0" i="0">
                <a:solidFill>
                  <a:srgbClr val="E2E8F0"/>
                </a:solidFill>
                <a:latin typeface="Roboto Mono"/>
              </a:rPr>
              <a:t> "Appointment"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Roboto Mono"/>
              </a:rPr>
              <a:t>SET</a:t>
            </a:r>
            <a:r>
              <a:rPr sz="1100" b="0" i="0">
                <a:solidFill>
                  <a:srgbClr val="E2E8F0"/>
                </a:solidFill>
                <a:latin typeface="Roboto Mono"/>
              </a:rPr>
              <a:t> "Status" = </a:t>
            </a:r>
            <a:r>
              <a:rPr sz="1100" b="0" i="0">
                <a:solidFill>
                  <a:srgbClr val="FCD34D"/>
                </a:solidFill>
                <a:latin typeface="Roboto Mono"/>
              </a:rPr>
              <a:t>'Scheduled'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Roboto Mono"/>
              </a:rPr>
              <a:t>WHERE</a:t>
            </a:r>
            <a:r>
              <a:rPr sz="1100" b="0" i="0">
                <a:solidFill>
                  <a:srgbClr val="E2E8F0"/>
                </a:solidFill>
                <a:latin typeface="Roboto Mono"/>
              </a:rPr>
              <a:t> "AppointmentID" = 5;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16052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8EA3B8"/>
                </a:solidFill>
                <a:latin typeface="Open Sans"/>
              </a:rPr>
              <a:t>Query Design view — LibreOffice Base</a:t>
            </a:r>
          </a:p>
        </p:txBody>
      </p:sp>
      <p:pic>
        <p:nvPicPr>
          <p:cNvPr id="25" name="Picture 24" descr="query4-update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462272"/>
            <a:ext cx="4297680" cy="855294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6967728" y="5486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Open Sans"/>
              </a:rPr>
              <a:t>UPDATE + WHERE — only the matching row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0D948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ross 4"/>
          <p:cNvSpPr/>
          <p:nvPr/>
        </p:nvSpPr>
        <p:spPr>
          <a:xfrm>
            <a:off x="11384280" y="5394960"/>
            <a:ext cx="329184" cy="329184"/>
          </a:xfrm>
          <a:prstGeom prst="plus">
            <a:avLst/>
          </a:prstGeom>
          <a:solidFill>
            <a:srgbClr val="2DD4B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ross 5"/>
          <p:cNvSpPr/>
          <p:nvPr/>
        </p:nvSpPr>
        <p:spPr>
          <a:xfrm>
            <a:off x="640080" y="914400"/>
            <a:ext cx="274320" cy="274320"/>
          </a:xfrm>
          <a:prstGeom prst="plus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91440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DD4BF"/>
                </a:solidFill>
                <a:latin typeface="Poppi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1" y="457200"/>
            <a:ext cx="768096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 spc="60">
                <a:solidFill>
                  <a:srgbClr val="FFFFFF"/>
                </a:solidFill>
                <a:latin typeface="Poppins"/>
              </a:rPr>
              <a:t>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39" y="987552"/>
            <a:ext cx="77724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45344" y="475488"/>
            <a:ext cx="1843430" cy="384048"/>
          </a:xfrm>
          <a:prstGeom prst="roundRect">
            <a:avLst>
              <a:gd name="adj" fmla="val 50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 i="0" spc="90">
                <a:solidFill>
                  <a:srgbClr val="2DD4BF"/>
                </a:solidFill>
                <a:latin typeface="Open Sans"/>
              </a:rPr>
              <a:t>PRESENTER — JEREMY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85855" cy="10972"/>
          </a:xfrm>
          <a:prstGeom prst="rect">
            <a:avLst/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spc="50">
                <a:solidFill>
                  <a:srgbClr val="5C7490"/>
                </a:solidFill>
                <a:latin typeface="Open Sans"/>
              </a:rPr>
              <a:t>Clinic Appointment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58368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 spc="50">
                <a:solidFill>
                  <a:srgbClr val="5C7490"/>
                </a:solidFill>
                <a:latin typeface="Open Sans"/>
              </a:rPr>
              <a:t>08 /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Poppins"/>
              </a:rPr>
              <a:t>The Clinic Appointment Management System successfully manages </a:t>
            </a:r>
            <a:r>
              <a:rPr sz="1900" b="1" i="0">
                <a:solidFill>
                  <a:srgbClr val="2DD4BF"/>
                </a:solidFill>
                <a:latin typeface="Poppins"/>
              </a:rPr>
              <a:t>patients, doctors, appointments, medical records and payments.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B8C7DA"/>
                </a:solidFill>
                <a:latin typeface="Open Sans"/>
              </a:rPr>
              <a:t>The database is normalized to 2NF, keeps data consistent through foreign keys, and supports SQL operations efficiently.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2121408" cy="1207008"/>
          </a:xfrm>
          <a:prstGeom prst="roundRect">
            <a:avLst>
              <a:gd name="adj" fmla="val 9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DD4BF"/>
                </a:solidFill>
                <a:latin typeface="Poppin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159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B8C7DA"/>
                </a:solidFill>
                <a:latin typeface="Open Sans"/>
              </a:rPr>
              <a:t>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6059" y="3520440"/>
            <a:ext cx="2121408" cy="1207008"/>
          </a:xfrm>
          <a:prstGeom prst="roundRect">
            <a:avLst>
              <a:gd name="adj" fmla="val 9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6059" y="3703320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DD4BF"/>
                </a:solidFill>
                <a:latin typeface="Poppin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6059" y="43159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B8C7DA"/>
                </a:solidFill>
                <a:latin typeface="Open Sans"/>
              </a:rPr>
              <a:t>DEPARTMENTS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199" y="3520440"/>
            <a:ext cx="2121408" cy="1207008"/>
          </a:xfrm>
          <a:prstGeom prst="roundRect">
            <a:avLst>
              <a:gd name="adj" fmla="val 9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199" y="3703320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DD4BF"/>
                </a:solidFill>
                <a:latin typeface="Poppin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43159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B8C7DA"/>
                </a:solidFill>
                <a:latin typeface="Open Sans"/>
              </a:rPr>
              <a:t>DOCTORS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2339" y="3520440"/>
            <a:ext cx="2121408" cy="1207008"/>
          </a:xfrm>
          <a:prstGeom prst="roundRect">
            <a:avLst>
              <a:gd name="adj" fmla="val 9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2339" y="3703320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DD4BF"/>
                </a:solidFill>
                <a:latin typeface="Poppins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2339" y="43159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B8C7DA"/>
                </a:solidFill>
                <a:latin typeface="Open Sans"/>
              </a:rPr>
              <a:t>PATIENTS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3520440"/>
            <a:ext cx="2121408" cy="1207008"/>
          </a:xfrm>
          <a:prstGeom prst="roundRect">
            <a:avLst>
              <a:gd name="adj" fmla="val 9000"/>
            </a:avLst>
          </a:prstGeom>
          <a:solidFill>
            <a:srgbClr val="11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3703320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DD4BF"/>
                </a:solidFill>
                <a:latin typeface="Poppin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3159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B8C7DA"/>
                </a:solidFill>
                <a:latin typeface="Open Sans"/>
              </a:rPr>
              <a:t>APPOINTMENTS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0749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oppins"/>
              </a:rPr>
              <a:t>Thank you!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B8C7DA"/>
                </a:solidFill>
                <a:latin typeface="Open Sans"/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